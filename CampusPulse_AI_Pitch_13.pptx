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 Campus Shouldn’t Depend on Someone Knowing Who to Call.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unsafe pathway or harassment concern to a broken streetlight, aggressive dog, reckless driving, or an unresolved grievance, campus problems often stay invisible because reporting is slow, fragmented, and disconnected from real-time response.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CampusPulse AI turns every campus concern into a visible, trackable and actionable signal.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37760" y="457200"/>
            <a:ext cx="3749040" cy="4206240"/>
          </a:xfrm>
          <a:prstGeom prst="roundRect">
            <a:avLst>
              <a:gd name="adj" fmla="val 2927"/>
            </a:avLst>
          </a:prstGeom>
          <a:solidFill>
            <a:srgbClr val="070E24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5303520" y="731520"/>
            <a:ext cx="1005840" cy="182880"/>
          </a:xfrm>
          <a:prstGeom prst="line">
            <a:avLst/>
          </a:prstGeom>
          <a:noFill/>
          <a:ln w="9525">
            <a:solidFill>
              <a:srgbClr val="1E3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914400"/>
            <a:ext cx="365760" cy="548640"/>
          </a:xfrm>
          <a:prstGeom prst="line">
            <a:avLst/>
          </a:prstGeom>
          <a:noFill/>
          <a:ln w="9525">
            <a:solidFill>
              <a:srgbClr val="1E3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731520"/>
            <a:ext cx="1188720" cy="274320"/>
          </a:xfrm>
          <a:prstGeom prst="line">
            <a:avLst/>
          </a:prstGeom>
          <a:noFill/>
          <a:ln w="9525">
            <a:solidFill>
              <a:srgbClr val="1E3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731520"/>
            <a:ext cx="548640" cy="640080"/>
          </a:xfrm>
          <a:prstGeom prst="line">
            <a:avLst/>
          </a:prstGeom>
          <a:noFill/>
          <a:ln w="9525">
            <a:solidFill>
              <a:srgbClr val="1E3A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5669280" y="731520"/>
            <a:ext cx="640080" cy="731520"/>
          </a:xfrm>
          <a:prstGeom prst="line">
            <a:avLst/>
          </a:prstGeom>
          <a:noFill/>
          <a:ln w="9525">
            <a:solidFill>
              <a:srgbClr val="1E3A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7498080" y="822960"/>
            <a:ext cx="731520" cy="182880"/>
          </a:xfrm>
          <a:prstGeom prst="line">
            <a:avLst/>
          </a:prstGeom>
          <a:noFill/>
          <a:ln w="9525">
            <a:solidFill>
              <a:srgbClr val="1E3A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6858000" y="1005840"/>
            <a:ext cx="640080" cy="365760"/>
          </a:xfrm>
          <a:prstGeom prst="line">
            <a:avLst/>
          </a:prstGeom>
          <a:noFill/>
          <a:ln w="9525">
            <a:solidFill>
              <a:srgbClr val="1E3A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1005840"/>
            <a:ext cx="365760" cy="548640"/>
          </a:xfrm>
          <a:prstGeom prst="line">
            <a:avLst/>
          </a:prstGeom>
          <a:noFill/>
          <a:ln w="9525">
            <a:solidFill>
              <a:srgbClr val="1E3A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7863840" y="822960"/>
            <a:ext cx="365760" cy="731520"/>
          </a:xfrm>
          <a:prstGeom prst="line">
            <a:avLst/>
          </a:prstGeom>
          <a:noFill/>
          <a:ln w="9525">
            <a:solidFill>
              <a:srgbClr val="1E3A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5669280" y="1371600"/>
            <a:ext cx="1188720" cy="91440"/>
          </a:xfrm>
          <a:prstGeom prst="line">
            <a:avLst/>
          </a:prstGeom>
          <a:noFill/>
          <a:ln w="9525">
            <a:solidFill>
              <a:srgbClr val="1E3A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1371600"/>
            <a:ext cx="1005840" cy="182880"/>
          </a:xfrm>
          <a:prstGeom prst="line">
            <a:avLst/>
          </a:prstGeom>
          <a:noFill/>
          <a:ln w="9525">
            <a:solidFill>
              <a:srgbClr val="1E3A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57800" y="868680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685800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52360" y="960120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83880" y="777240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1325880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23560" y="1417320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18120" y="1508760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7760" y="3657600"/>
            <a:ext cx="3749040" cy="1005840"/>
          </a:xfrm>
          <a:prstGeom prst="rect">
            <a:avLst/>
          </a:prstGeom>
          <a:solidFill>
            <a:srgbClr val="0E1A3A"/>
          </a:solidFill>
          <a:ln w="12700">
            <a:solidFill>
              <a:srgbClr val="0E1A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828800"/>
            <a:ext cx="64008" cy="2011680"/>
          </a:xfrm>
          <a:prstGeom prst="rect">
            <a:avLst/>
          </a:prstGeom>
          <a:solidFill>
            <a:srgbClr val="3A4A78"/>
          </a:solidFill>
          <a:ln w="12700">
            <a:solidFill>
              <a:srgbClr val="3A4A7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60720" y="1645920"/>
            <a:ext cx="429768" cy="274320"/>
          </a:xfrm>
          <a:prstGeom prst="ellipse">
            <a:avLst/>
          </a:prstGeom>
          <a:solidFill>
            <a:srgbClr val="F97316">
              <a:alpha val="30000"/>
            </a:srgbClr>
          </a:solidFill>
          <a:ln w="12700">
            <a:solidFill>
              <a:srgbClr val="F97316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5760720" y="1627632"/>
            <a:ext cx="42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949440" y="2743200"/>
            <a:ext cx="274320" cy="27432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03720" y="3035808"/>
            <a:ext cx="365760" cy="685800"/>
          </a:xfrm>
          <a:prstGeom prst="roundRect">
            <a:avLst>
              <a:gd name="adj" fmla="val 3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80960" y="2103120"/>
            <a:ext cx="822960" cy="1371600"/>
          </a:xfrm>
          <a:prstGeom prst="roundRect">
            <a:avLst>
              <a:gd name="adj" fmla="val 11111"/>
            </a:avLst>
          </a:prstGeom>
          <a:solidFill>
            <a:srgbClr val="111B3D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680960" y="22860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ALERT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7680960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path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4937760" y="43891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scene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WOMEN’S SAFETY NEEDS ATTENTION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Is Not Just About Emergencies. It Is About Feeling Safe Before One Happens.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CampusPulse AI  |  Phoenix Powered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EF4444">
              <a:alpha val="20000"/>
            </a:srgbClr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26517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Poorly lit or isolated pathways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EF4444">
              <a:alpha val="20000"/>
            </a:srgbClr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46120" y="1371600"/>
            <a:ext cx="26517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areas after certain hours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EF4444">
              <a:alpha val="20000"/>
            </a:srgbClr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1371600"/>
            <a:ext cx="26517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Harassment or uncomfortable situations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1828800"/>
            <a:ext cx="26517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immediate access to help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182880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46120" y="1828800"/>
            <a:ext cx="26517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Sanitary facility or supply issues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82880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0" y="1828800"/>
            <a:ext cx="26517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reporting: complaint systems feel slow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1517904" cy="1600200"/>
          </a:xfrm>
          <a:prstGeom prst="roundRect">
            <a:avLst>
              <a:gd name="adj" fmla="val 7229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6032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2880360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 and repeat data show where lighting, patrols or fixes are needed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975104" y="31089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139696" y="2468880"/>
            <a:ext cx="1517904" cy="1600200"/>
          </a:xfrm>
          <a:prstGeom prst="roundRect">
            <a:avLst>
              <a:gd name="adj" fmla="val 7229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231136" y="256032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231136" y="2880360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language, location pins, grievance categories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657600" y="31089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22192" y="2468880"/>
            <a:ext cx="1517904" cy="1600200"/>
          </a:xfrm>
          <a:prstGeom prst="roundRect">
            <a:avLst>
              <a:gd name="adj" fmla="val 7229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913632" y="256032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913632" y="2880360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to the authorized authority or security team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340096" y="31089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504688" y="2468880"/>
            <a:ext cx="1517904" cy="1600200"/>
          </a:xfrm>
          <a:prstGeom prst="roundRect">
            <a:avLst>
              <a:gd name="adj" fmla="val 7229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596128" y="256032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596128" y="2880360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whether the issue was actually addressed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022592" y="31089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187184" y="2468880"/>
            <a:ext cx="1517904" cy="1600200"/>
          </a:xfrm>
          <a:prstGeom prst="roundRect">
            <a:avLst>
              <a:gd name="adj" fmla="val 7229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278624" y="256032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278624" y="2880360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data reveals recurring problems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251960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Women’s safety is a priority use case. CampusPulse AI is a unified platform for the entire campus community.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GRIEVANCE GAP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Isn’t the Absence of Complaints. It’s the Gap Between Reporting and Response.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CampusPulse AI  |  Phoenix Powered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0" y="1728216"/>
            <a:ext cx="365760" cy="1289304"/>
          </a:xfrm>
          <a:prstGeom prst="line">
            <a:avLst/>
          </a:prstGeom>
          <a:noFill/>
          <a:ln w="12700">
            <a:solidFill>
              <a:srgbClr val="2A3F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3017520" cy="713232"/>
          </a:xfrm>
          <a:prstGeom prst="roundRect">
            <a:avLst>
              <a:gd name="adj" fmla="val 15385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4447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Women’s safety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6824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“It’s too dark near this pathway.”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2551176"/>
            <a:ext cx="365760" cy="466344"/>
          </a:xfrm>
          <a:prstGeom prst="line">
            <a:avLst/>
          </a:prstGeom>
          <a:noFill/>
          <a:ln w="12700">
            <a:solidFill>
              <a:srgbClr val="2A3F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94560"/>
            <a:ext cx="3017520" cy="713232"/>
          </a:xfrm>
          <a:prstGeom prst="roundRect">
            <a:avLst>
              <a:gd name="adj" fmla="val 15385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267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25054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“Streetlight near the hostel is not working.”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flipV="1">
            <a:off x="3474720" y="3017520"/>
            <a:ext cx="365760" cy="356616"/>
          </a:xfrm>
          <a:prstGeom prst="line">
            <a:avLst/>
          </a:prstGeom>
          <a:noFill/>
          <a:ln w="12700">
            <a:solidFill>
              <a:srgbClr val="2A3F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017520"/>
            <a:ext cx="3017520" cy="713232"/>
          </a:xfrm>
          <a:prstGeom prst="roundRect">
            <a:avLst>
              <a:gd name="adj" fmla="val 15385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0906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safety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3284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“Aggressive dog near the canteen.”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flipV="1">
            <a:off x="3474720" y="3017520"/>
            <a:ext cx="365760" cy="1179576"/>
          </a:xfrm>
          <a:prstGeom prst="line">
            <a:avLst/>
          </a:prstGeom>
          <a:noFill/>
          <a:ln w="12700">
            <a:solidFill>
              <a:srgbClr val="2A3F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840480"/>
            <a:ext cx="3017520" cy="713232"/>
          </a:xfrm>
          <a:prstGeom prst="roundRect">
            <a:avLst>
              <a:gd name="adj" fmla="val 15385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9136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41513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“Cars driven recklessly near the academic block.”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flipV="1">
            <a:off x="5303520" y="1911096"/>
            <a:ext cx="365760" cy="1106424"/>
          </a:xfrm>
          <a:prstGeom prst="line">
            <a:avLst/>
          </a:prstGeom>
          <a:noFill/>
          <a:ln w="12700">
            <a:solidFill>
              <a:srgbClr val="2A3F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0" y="1554480"/>
            <a:ext cx="3017520" cy="713232"/>
          </a:xfrm>
          <a:prstGeom prst="roundRect">
            <a:avLst>
              <a:gd name="adj" fmla="val 15385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06440" y="16276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806440" y="18653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“Sanitary-pad dispenser is empty.”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 flipV="1">
            <a:off x="5303520" y="2825496"/>
            <a:ext cx="365760" cy="192024"/>
          </a:xfrm>
          <a:prstGeom prst="line">
            <a:avLst/>
          </a:prstGeom>
          <a:noFill/>
          <a:ln w="12700">
            <a:solidFill>
              <a:srgbClr val="2A3F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0" y="2468880"/>
            <a:ext cx="3017520" cy="713232"/>
          </a:xfrm>
          <a:prstGeom prst="roundRect">
            <a:avLst>
              <a:gd name="adj" fmla="val 15385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806440" y="2542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&amp; found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806440" y="27797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lost my ID card near the library.”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03520" y="3017520"/>
            <a:ext cx="365760" cy="722376"/>
          </a:xfrm>
          <a:prstGeom prst="line">
            <a:avLst/>
          </a:prstGeom>
          <a:noFill/>
          <a:ln w="12700">
            <a:solidFill>
              <a:srgbClr val="2A3F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0" y="3383280"/>
            <a:ext cx="3017520" cy="713232"/>
          </a:xfrm>
          <a:prstGeom prst="roundRect">
            <a:avLst>
              <a:gd name="adj" fmla="val 15385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806440" y="34564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806440" y="36941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have three deadlines this week.”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11880" y="2240280"/>
            <a:ext cx="1920240" cy="1554480"/>
          </a:xfrm>
          <a:prstGeom prst="ellipse">
            <a:avLst/>
          </a:prstGeom>
          <a:solidFill>
            <a:srgbClr val="22D3EE">
              <a:alpha val="1800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611880" y="2377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CampusPulse AI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3749040" y="26974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intelligent grievance + campus management layer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these reports may go to different people and systems, creating fragmentation.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Campus Signal.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CampusPulse AI  |  Phoenix Powered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960120" cy="365760"/>
          </a:xfrm>
          <a:prstGeom prst="roundRect">
            <a:avLst>
              <a:gd name="adj" fmla="val 20000"/>
            </a:avLst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9601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508760" y="1371600"/>
            <a:ext cx="960120" cy="365760"/>
          </a:xfrm>
          <a:prstGeom prst="roundRect">
            <a:avLst>
              <a:gd name="adj" fmla="val 20000"/>
            </a:avLst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1371600"/>
            <a:ext cx="9601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1371600"/>
            <a:ext cx="960120" cy="365760"/>
          </a:xfrm>
          <a:prstGeom prst="roundRect">
            <a:avLst>
              <a:gd name="adj" fmla="val 20000"/>
            </a:avLst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60320" y="1371600"/>
            <a:ext cx="9601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11880" y="1371600"/>
            <a:ext cx="960120" cy="365760"/>
          </a:xfrm>
          <a:prstGeom prst="roundRect">
            <a:avLst>
              <a:gd name="adj" fmla="val 20000"/>
            </a:avLst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11880" y="1371600"/>
            <a:ext cx="9601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17556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CampusPulse AI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4871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14224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2743200"/>
            <a:ext cx="12801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74520" y="274320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14224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874520" y="2743200"/>
            <a:ext cx="12801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274320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14224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91840" y="2743200"/>
            <a:ext cx="12801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4612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14224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3246120"/>
            <a:ext cx="12801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874520" y="324612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14224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874520" y="3246120"/>
            <a:ext cx="12801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91840" y="324612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14224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291840" y="3246120"/>
            <a:ext cx="12801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38404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reads natural-language complaints, so there are no long forms to fill.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137160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029200" y="14630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COMPLAINT INTERFACE (MOCKUP)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0" y="1737360"/>
            <a:ext cx="3474720" cy="594360"/>
          </a:xfrm>
          <a:prstGeom prst="roundRect">
            <a:avLst>
              <a:gd name="adj" fmla="val 12308"/>
            </a:avLst>
          </a:prstGeom>
          <a:solidFill>
            <a:srgbClr val="14224A"/>
          </a:solidFill>
          <a:ln w="9525">
            <a:solidFill>
              <a:srgbClr val="A9B8D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029200" y="1737360"/>
            <a:ext cx="347472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road behind the girls’ hostel is completely dark.”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0" y="2514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35040" y="251460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035040" y="2514600"/>
            <a:ext cx="24688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/ Infrastructure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0" y="30175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35040" y="301752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035040" y="3017520"/>
            <a:ext cx="24688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Girls’ Hostel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029200" y="35204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035040" y="352044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EF4444">
              <a:alpha val="20000"/>
            </a:srgbClr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035040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5029200" y="40233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035040" y="402336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34D399">
              <a:alpha val="20000"/>
            </a:srgbClr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035040" y="4023360"/>
            <a:ext cx="24688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authorized campus authority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MVP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Safety &amp; Grievance Radar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0" y="201168"/>
            <a:ext cx="3017520" cy="274320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0" y="201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WEB MVP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CampusPulse AI  |  Phoenix Powered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4937760" cy="2514600"/>
          </a:xfrm>
          <a:prstGeom prst="roundRect">
            <a:avLst>
              <a:gd name="adj" fmla="val 3636"/>
            </a:avLst>
          </a:prstGeom>
          <a:solidFill>
            <a:srgbClr val="0C1A3D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924812"/>
            <a:ext cx="4754880" cy="0"/>
          </a:xfrm>
          <a:prstGeom prst="line">
            <a:avLst/>
          </a:prstGeom>
          <a:noFill/>
          <a:ln w="25400">
            <a:solidFill>
              <a:srgbClr val="2236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43507" y="1463040"/>
            <a:ext cx="0" cy="2331720"/>
          </a:xfrm>
          <a:prstGeom prst="line">
            <a:avLst/>
          </a:prstGeom>
          <a:noFill/>
          <a:ln w="25400">
            <a:solidFill>
              <a:srgbClr val="2236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28900"/>
            <a:ext cx="4754880" cy="0"/>
          </a:xfrm>
          <a:prstGeom prst="line">
            <a:avLst/>
          </a:prstGeom>
          <a:noFill/>
          <a:ln w="25400">
            <a:solidFill>
              <a:srgbClr val="2236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1463040"/>
            <a:ext cx="0" cy="2331720"/>
          </a:xfrm>
          <a:prstGeom prst="line">
            <a:avLst/>
          </a:prstGeom>
          <a:noFill/>
          <a:ln w="25400">
            <a:solidFill>
              <a:srgbClr val="2236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332988"/>
            <a:ext cx="4754880" cy="0"/>
          </a:xfrm>
          <a:prstGeom prst="line">
            <a:avLst/>
          </a:prstGeom>
          <a:noFill/>
          <a:ln w="25400">
            <a:solidFill>
              <a:srgbClr val="2236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8653" y="1463040"/>
            <a:ext cx="0" cy="2331720"/>
          </a:xfrm>
          <a:prstGeom prst="line">
            <a:avLst/>
          </a:prstGeom>
          <a:noFill/>
          <a:ln w="25400">
            <a:solidFill>
              <a:srgbClr val="2236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2221" y="1522476"/>
            <a:ext cx="740664" cy="301752"/>
          </a:xfrm>
          <a:prstGeom prst="roundRect">
            <a:avLst>
              <a:gd name="adj" fmla="val 9091"/>
            </a:avLst>
          </a:prstGeom>
          <a:solidFill>
            <a:srgbClr val="14285A"/>
          </a:solidFill>
          <a:ln w="12700">
            <a:solidFill>
              <a:srgbClr val="1428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38528" y="1522476"/>
            <a:ext cx="740664" cy="301752"/>
          </a:xfrm>
          <a:prstGeom prst="roundRect">
            <a:avLst>
              <a:gd name="adj" fmla="val 9091"/>
            </a:avLst>
          </a:prstGeom>
          <a:solidFill>
            <a:srgbClr val="14285A"/>
          </a:solidFill>
          <a:ln w="12700">
            <a:solidFill>
              <a:srgbClr val="1428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22346" y="1522476"/>
            <a:ext cx="740664" cy="301752"/>
          </a:xfrm>
          <a:prstGeom prst="roundRect">
            <a:avLst>
              <a:gd name="adj" fmla="val 9091"/>
            </a:avLst>
          </a:prstGeom>
          <a:solidFill>
            <a:srgbClr val="14285A"/>
          </a:solidFill>
          <a:ln w="12700">
            <a:solidFill>
              <a:srgbClr val="1428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2221" y="2830068"/>
            <a:ext cx="740664" cy="301752"/>
          </a:xfrm>
          <a:prstGeom prst="roundRect">
            <a:avLst>
              <a:gd name="adj" fmla="val 9091"/>
            </a:avLst>
          </a:prstGeom>
          <a:solidFill>
            <a:srgbClr val="14285A"/>
          </a:solidFill>
          <a:ln w="12700">
            <a:solidFill>
              <a:srgbClr val="1428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21101" y="2830068"/>
            <a:ext cx="740664" cy="301752"/>
          </a:xfrm>
          <a:prstGeom prst="roundRect">
            <a:avLst>
              <a:gd name="adj" fmla="val 9091"/>
            </a:avLst>
          </a:prstGeom>
          <a:solidFill>
            <a:srgbClr val="14285A"/>
          </a:solidFill>
          <a:ln w="12700">
            <a:solidFill>
              <a:srgbClr val="1428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04918" y="2075688"/>
            <a:ext cx="740664" cy="301752"/>
          </a:xfrm>
          <a:prstGeom prst="roundRect">
            <a:avLst>
              <a:gd name="adj" fmla="val 9091"/>
            </a:avLst>
          </a:prstGeom>
          <a:solidFill>
            <a:srgbClr val="14285A"/>
          </a:solidFill>
          <a:ln w="12700">
            <a:solidFill>
              <a:srgbClr val="1428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16736" y="1796796"/>
            <a:ext cx="256032" cy="256032"/>
          </a:xfrm>
          <a:prstGeom prst="ellipse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80744" y="1860804"/>
            <a:ext cx="128016" cy="128016"/>
          </a:xfrm>
          <a:prstGeom prst="ellipse">
            <a:avLst/>
          </a:prstGeom>
          <a:solidFill>
            <a:srgbClr val="EF444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98064" y="2500884"/>
            <a:ext cx="256032" cy="256032"/>
          </a:xfrm>
          <a:prstGeom prst="ellipse">
            <a:avLst/>
          </a:prstGeom>
          <a:solidFill>
            <a:srgbClr val="F97316">
              <a:alpha val="30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62072" y="2564892"/>
            <a:ext cx="128016" cy="128016"/>
          </a:xfrm>
          <a:prstGeom prst="ellipse">
            <a:avLst/>
          </a:prstGeom>
          <a:solidFill>
            <a:srgbClr val="F9731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80637" y="2500884"/>
            <a:ext cx="256032" cy="256032"/>
          </a:xfrm>
          <a:prstGeom prst="ellipse">
            <a:avLst/>
          </a:prstGeom>
          <a:solidFill>
            <a:srgbClr val="FACC15">
              <a:alpha val="30000"/>
            </a:srgbClr>
          </a:solidFill>
          <a:ln w="12700">
            <a:solidFill>
              <a:srgbClr val="FACC15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44645" y="2564892"/>
            <a:ext cx="128016" cy="128016"/>
          </a:xfrm>
          <a:prstGeom prst="ellipse">
            <a:avLst/>
          </a:prstGeom>
          <a:solidFill>
            <a:srgbClr val="FACC1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57400" y="3204972"/>
            <a:ext cx="256032" cy="256032"/>
          </a:xfrm>
          <a:prstGeom prst="ellipse">
            <a:avLst/>
          </a:prstGeom>
          <a:solidFill>
            <a:srgbClr val="34D399">
              <a:alpha val="30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21408" y="3268980"/>
            <a:ext cx="128016" cy="128016"/>
          </a:xfrm>
          <a:prstGeom prst="ellipse">
            <a:avLst/>
          </a:prstGeom>
          <a:solidFill>
            <a:srgbClr val="34D39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89350" y="1796796"/>
            <a:ext cx="256032" cy="256032"/>
          </a:xfrm>
          <a:prstGeom prst="ellipse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53358" y="1860804"/>
            <a:ext cx="128016" cy="128016"/>
          </a:xfrm>
          <a:prstGeom prst="ellipse">
            <a:avLst/>
          </a:prstGeom>
          <a:solidFill>
            <a:srgbClr val="EF444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365760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36118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828800" y="3657600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965960" y="36118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017520" y="3657600"/>
            <a:ext cx="91440" cy="91440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154680" y="36118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206240" y="3657600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343400" y="36118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4023360"/>
            <a:ext cx="1110996" cy="457200"/>
          </a:xfrm>
          <a:prstGeom prst="roundRect">
            <a:avLst>
              <a:gd name="adj" fmla="val 16000"/>
            </a:avLst>
          </a:prstGeom>
          <a:solidFill>
            <a:srgbClr val="34D399">
              <a:alpha val="20000"/>
            </a:srgbClr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7200" y="4023360"/>
            <a:ext cx="111099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568196" y="40233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732788" y="4023360"/>
            <a:ext cx="1110996" cy="457200"/>
          </a:xfrm>
          <a:prstGeom prst="roundRect">
            <a:avLst>
              <a:gd name="adj" fmla="val 16000"/>
            </a:avLst>
          </a:prstGeom>
          <a:solidFill>
            <a:srgbClr val="34D399">
              <a:alpha val="20000"/>
            </a:srgbClr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732788" y="4023360"/>
            <a:ext cx="111099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2843784" y="40233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008376" y="4023360"/>
            <a:ext cx="1110996" cy="457200"/>
          </a:xfrm>
          <a:prstGeom prst="roundRect">
            <a:avLst>
              <a:gd name="adj" fmla="val 16000"/>
            </a:avLst>
          </a:prstGeom>
          <a:solidFill>
            <a:srgbClr val="34D399">
              <a:alpha val="20000"/>
            </a:srgbClr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008376" y="4023360"/>
            <a:ext cx="111099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4119372" y="40233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283964" y="4023360"/>
            <a:ext cx="1110996" cy="457200"/>
          </a:xfrm>
          <a:prstGeom prst="roundRect">
            <a:avLst>
              <a:gd name="adj" fmla="val 16000"/>
            </a:avLst>
          </a:prstGeom>
          <a:solidFill>
            <a:srgbClr val="34D399">
              <a:alpha val="20000"/>
            </a:srgbClr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283964" y="4023360"/>
            <a:ext cx="111099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577840" y="1371600"/>
            <a:ext cx="3108960" cy="548640"/>
          </a:xfrm>
          <a:prstGeom prst="roundRect">
            <a:avLst>
              <a:gd name="adj" fmla="val 13333"/>
            </a:avLst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577840" y="1371600"/>
            <a:ext cx="3108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“Broken light near Gate 2.”  →  Infrastructure · Gate 2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577840" y="2057400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577840" y="2057400"/>
            <a:ext cx="1508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Women’s Safety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178040" y="2057400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178040" y="2057400"/>
            <a:ext cx="1508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577840" y="2386584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577840" y="2386584"/>
            <a:ext cx="1508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Parking/Traffic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178040" y="2386584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178040" y="2386584"/>
            <a:ext cx="1508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Safety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577840" y="2715768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577840" y="2715768"/>
            <a:ext cx="1508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Sanitation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178040" y="2715768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178040" y="2715768"/>
            <a:ext cx="1508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&amp; Found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577840" y="3044952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577840" y="3044952"/>
            <a:ext cx="1508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178040" y="3044952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178040" y="3044952"/>
            <a:ext cx="1508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577840" y="3474720"/>
            <a:ext cx="3108960" cy="329184"/>
          </a:xfrm>
          <a:prstGeom prst="roundRect">
            <a:avLst>
              <a:gd name="adj" fmla="val 33333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687568" y="359359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5897880" y="34747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path, Block C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577840" y="3858768"/>
            <a:ext cx="3108960" cy="329184"/>
          </a:xfrm>
          <a:prstGeom prst="roundRect">
            <a:avLst>
              <a:gd name="adj" fmla="val 33333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687568" y="3977640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897880" y="385876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light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5577840" y="4242816"/>
            <a:ext cx="3108960" cy="329184"/>
          </a:xfrm>
          <a:prstGeom prst="roundRect">
            <a:avLst>
              <a:gd name="adj" fmla="val 33333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687568" y="4361688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897880" y="424281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leak, Lab 3</a:t>
            </a:r>
            <a:endParaRPr lang="en-US" sz="1000" dirty="0"/>
          </a:p>
        </p:txBody>
      </p:sp>
      <p:sp>
        <p:nvSpPr>
          <p:cNvPr id="77" name="Text 75"/>
          <p:cNvSpPr txBox="1"/>
          <p:nvPr/>
        </p:nvSpPr>
        <p:spPr>
          <a:xfrm>
            <a:off x="5577840" y="464515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UI data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WOMEN’S SAFETY: FROM REPORTING TO PREVENTION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Campus That Learns Where Safety Risks Repeatedly Occur.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CampusPulse AI  |  Phoenix Powered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206240" cy="2377440"/>
          </a:xfrm>
          <a:prstGeom prst="roundRect">
            <a:avLst>
              <a:gd name="adj" fmla="val 3846"/>
            </a:avLst>
          </a:prstGeom>
          <a:solidFill>
            <a:srgbClr val="0C1A3D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94637"/>
            <a:ext cx="4023360" cy="0"/>
          </a:xfrm>
          <a:prstGeom prst="line">
            <a:avLst/>
          </a:prstGeom>
          <a:noFill/>
          <a:ln w="25400">
            <a:solidFill>
              <a:srgbClr val="2236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82573" y="1463040"/>
            <a:ext cx="0" cy="2194560"/>
          </a:xfrm>
          <a:prstGeom prst="line">
            <a:avLst/>
          </a:prstGeom>
          <a:noFill/>
          <a:ln w="25400">
            <a:solidFill>
              <a:srgbClr val="2236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560320"/>
            <a:ext cx="4023360" cy="0"/>
          </a:xfrm>
          <a:prstGeom prst="line">
            <a:avLst/>
          </a:prstGeom>
          <a:noFill/>
          <a:ln w="25400">
            <a:solidFill>
              <a:srgbClr val="2236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463040"/>
            <a:ext cx="0" cy="2194560"/>
          </a:xfrm>
          <a:prstGeom prst="line">
            <a:avLst/>
          </a:prstGeom>
          <a:noFill/>
          <a:ln w="25400">
            <a:solidFill>
              <a:srgbClr val="2236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226003"/>
            <a:ext cx="4023360" cy="0"/>
          </a:xfrm>
          <a:prstGeom prst="line">
            <a:avLst/>
          </a:prstGeom>
          <a:noFill/>
          <a:ln w="25400">
            <a:solidFill>
              <a:srgbClr val="2236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38067" y="1463040"/>
            <a:ext cx="0" cy="2194560"/>
          </a:xfrm>
          <a:prstGeom prst="line">
            <a:avLst/>
          </a:prstGeom>
          <a:noFill/>
          <a:ln w="25400">
            <a:solidFill>
              <a:srgbClr val="2236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3699" y="1514246"/>
            <a:ext cx="630936" cy="285293"/>
          </a:xfrm>
          <a:prstGeom prst="roundRect">
            <a:avLst>
              <a:gd name="adj" fmla="val 9615"/>
            </a:avLst>
          </a:prstGeom>
          <a:solidFill>
            <a:srgbClr val="14285A"/>
          </a:solidFill>
          <a:ln w="12700">
            <a:solidFill>
              <a:srgbClr val="1428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19072" y="1514246"/>
            <a:ext cx="630936" cy="285293"/>
          </a:xfrm>
          <a:prstGeom prst="roundRect">
            <a:avLst>
              <a:gd name="adj" fmla="val 9615"/>
            </a:avLst>
          </a:prstGeom>
          <a:solidFill>
            <a:srgbClr val="14285A"/>
          </a:solidFill>
          <a:ln w="12700">
            <a:solidFill>
              <a:srgbClr val="1428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12694" y="1514246"/>
            <a:ext cx="630936" cy="285293"/>
          </a:xfrm>
          <a:prstGeom prst="roundRect">
            <a:avLst>
              <a:gd name="adj" fmla="val 9615"/>
            </a:avLst>
          </a:prstGeom>
          <a:solidFill>
            <a:srgbClr val="14285A"/>
          </a:solidFill>
          <a:ln w="12700">
            <a:solidFill>
              <a:srgbClr val="1428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" y="2750515"/>
            <a:ext cx="630936" cy="285293"/>
          </a:xfrm>
          <a:prstGeom prst="roundRect">
            <a:avLst>
              <a:gd name="adj" fmla="val 9615"/>
            </a:avLst>
          </a:prstGeom>
          <a:solidFill>
            <a:srgbClr val="14285A"/>
          </a:solidFill>
          <a:ln w="12700">
            <a:solidFill>
              <a:srgbClr val="1428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96819" y="2750515"/>
            <a:ext cx="630936" cy="285293"/>
          </a:xfrm>
          <a:prstGeom prst="roundRect">
            <a:avLst>
              <a:gd name="adj" fmla="val 9615"/>
            </a:avLst>
          </a:prstGeom>
          <a:solidFill>
            <a:srgbClr val="14285A"/>
          </a:solidFill>
          <a:ln w="12700">
            <a:solidFill>
              <a:srgbClr val="1428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90442" y="2037283"/>
            <a:ext cx="630936" cy="285293"/>
          </a:xfrm>
          <a:prstGeom prst="roundRect">
            <a:avLst>
              <a:gd name="adj" fmla="val 9615"/>
            </a:avLst>
          </a:prstGeom>
          <a:solidFill>
            <a:srgbClr val="14285A"/>
          </a:solidFill>
          <a:ln w="12700">
            <a:solidFill>
              <a:srgbClr val="1428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1673352"/>
            <a:ext cx="822960" cy="822960"/>
          </a:xfrm>
          <a:prstGeom prst="ellipse">
            <a:avLst/>
          </a:prstGeom>
          <a:solidFill>
            <a:srgbClr val="EF4444">
              <a:alpha val="45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90472" y="1975104"/>
            <a:ext cx="457200" cy="457200"/>
          </a:xfrm>
          <a:prstGeom prst="ellipse">
            <a:avLst/>
          </a:prstGeom>
          <a:solidFill>
            <a:srgbClr val="EF4444">
              <a:alpha val="65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44368" y="2340864"/>
            <a:ext cx="914400" cy="914400"/>
          </a:xfrm>
          <a:prstGeom prst="ellipse">
            <a:avLst/>
          </a:prstGeom>
          <a:solidFill>
            <a:srgbClr val="F97316">
              <a:alpha val="40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0" y="2617013"/>
            <a:ext cx="457200" cy="457200"/>
          </a:xfrm>
          <a:prstGeom prst="ellipse">
            <a:avLst/>
          </a:prstGeom>
          <a:solidFill>
            <a:srgbClr val="F97316">
              <a:alpha val="60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2999232"/>
            <a:ext cx="548640" cy="548640"/>
          </a:xfrm>
          <a:prstGeom prst="ellipse">
            <a:avLst/>
          </a:prstGeom>
          <a:solidFill>
            <a:srgbClr val="FACC15">
              <a:alpha val="35000"/>
            </a:srgbClr>
          </a:solidFill>
          <a:ln w="12700">
            <a:solidFill>
              <a:srgbClr val="FACC15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37673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heatmap (illustrative)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846320" y="1371600"/>
            <a:ext cx="3840480" cy="2377440"/>
          </a:xfrm>
          <a:prstGeom prst="roundRect">
            <a:avLst>
              <a:gd name="adj" fmla="val 4615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83480" y="14630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HELP DECIDE WHERE TO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983480" y="17373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lighting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patrols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cameras where appropriate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pathways and access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security coverage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983480" y="30632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points: repeated darkness complaints, isolated areas, harassment grievances, emergency reports, security response locations.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1933956" cy="457200"/>
          </a:xfrm>
          <a:prstGeom prst="roundRect">
            <a:avLst>
              <a:gd name="adj" fmla="val 16000"/>
            </a:avLst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3931920"/>
            <a:ext cx="193395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Report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2391156" y="39319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555748" y="3931920"/>
            <a:ext cx="1933956" cy="457200"/>
          </a:xfrm>
          <a:prstGeom prst="roundRect">
            <a:avLst>
              <a:gd name="adj" fmla="val 16000"/>
            </a:avLst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555748" y="3931920"/>
            <a:ext cx="193395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System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489704" y="39319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654296" y="3931920"/>
            <a:ext cx="1933956" cy="457200"/>
          </a:xfrm>
          <a:prstGeom prst="roundRect">
            <a:avLst>
              <a:gd name="adj" fmla="val 16000"/>
            </a:avLst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654296" y="3931920"/>
            <a:ext cx="193395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Response Team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588252" y="39319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752844" y="3931920"/>
            <a:ext cx="1933956" cy="457200"/>
          </a:xfrm>
          <a:prstGeom prst="roundRect">
            <a:avLst>
              <a:gd name="adj" fmla="val 16000"/>
            </a:avLst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752844" y="3931920"/>
            <a:ext cx="193395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complaints are visible only to authorized personnel, with privacy and access controls.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VISION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SOS: Fast. Private. Location-Aware.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0" y="201168"/>
            <a:ext cx="3017520" cy="274320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0" y="201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— NATIVE MOBILE APP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CampusPulse AI  |  Phoenix Powered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2011680" cy="3383280"/>
          </a:xfrm>
          <a:prstGeom prst="roundRect">
            <a:avLst>
              <a:gd name="adj" fmla="val 11364"/>
            </a:avLst>
          </a:prstGeom>
          <a:solidFill>
            <a:srgbClr val="070E24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828800"/>
            <a:ext cx="1188720" cy="1188720"/>
          </a:xfrm>
          <a:prstGeom prst="ellipse">
            <a:avLst/>
          </a:prstGeom>
          <a:solidFill>
            <a:srgbClr val="EF4444">
              <a:alpha val="70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live location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campus security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14400" y="4114800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3B82F6">
              <a:alpha val="20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114800"/>
            <a:ext cx="14630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mockup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26080" y="1426464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26080" y="1426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273552" y="1371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trigger (e.g. multiple power-button presses)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52160" y="1426464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52160" y="1426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199632" y="1371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location shared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926080" y="1993392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26080" y="1993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273552" y="19385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campus security alerted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52160" y="1993392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52160" y="1993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199632" y="19385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with user permission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926080" y="2560320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92608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273552" y="250545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distress signal analysis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52160" y="2560320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85216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199632" y="250545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verification / security response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2926080" y="3154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AI signals: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3154680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3B82F6">
              <a:alpha val="20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434840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Distress keywords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806440" y="3154680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3B82F6">
              <a:alpha val="20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806440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Screaming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178040" y="3154680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3B82F6">
              <a:alpha val="20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178040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running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926080" y="3611880"/>
            <a:ext cx="5760720" cy="365760"/>
          </a:xfrm>
          <a:prstGeom prst="roundRect">
            <a:avLst>
              <a:gd name="adj" fmla="val 20000"/>
            </a:avLst>
          </a:prstGeom>
          <a:solidFill>
            <a:srgbClr val="34D399">
              <a:alpha val="20000"/>
            </a:srgbClr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926080" y="3611880"/>
            <a:ext cx="5760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+ Privacy + False-Alarm Controls + Authorized Access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2926080" y="41148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capabilities are part of our future native-app roadmap, not the current web MVP.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OPERATIONS BEYOND SAFETY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Intelligence Can Solve Everyday Campus Problems.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CampusPulse AI  |  Phoenix Powered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56816" cy="1828800"/>
          </a:xfrm>
          <a:prstGeom prst="roundRect">
            <a:avLst>
              <a:gd name="adj" fmla="val 6000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08760"/>
            <a:ext cx="502920" cy="50292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634490"/>
            <a:ext cx="251460" cy="2514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94360" y="2103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606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lights, water leakage, damaged facilities.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42032" y="1371600"/>
            <a:ext cx="1956816" cy="1828800"/>
          </a:xfrm>
          <a:prstGeom prst="roundRect">
            <a:avLst>
              <a:gd name="adj" fmla="val 6000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79192" y="1508760"/>
            <a:ext cx="502920" cy="50292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922" y="163449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679192" y="2103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&amp; Environmental Safety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2679192" y="2606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animals and unsafe zones.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26864" y="1371600"/>
            <a:ext cx="1956816" cy="1828800"/>
          </a:xfrm>
          <a:prstGeom prst="roundRect">
            <a:avLst>
              <a:gd name="adj" fmla="val 6000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764024" y="1508760"/>
            <a:ext cx="502920" cy="50292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754" y="1634490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764024" y="2103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&amp; Traffic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764024" y="2606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Reckless driving, blocked routes, parking complaints.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711696" y="1371600"/>
            <a:ext cx="1956816" cy="1828800"/>
          </a:xfrm>
          <a:prstGeom prst="roundRect">
            <a:avLst>
              <a:gd name="adj" fmla="val 6000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848856" y="1508760"/>
            <a:ext cx="502920" cy="502920"/>
          </a:xfrm>
          <a:prstGeom prst="ellipse">
            <a:avLst/>
          </a:prstGeom>
          <a:solidFill>
            <a:srgbClr val="EF4444">
              <a:alpha val="18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586" y="1634490"/>
            <a:ext cx="251460" cy="2514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848856" y="2103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Women’s Facilities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6848856" y="2606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Sanitary-pad availability and facility grievances.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3429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follows the same path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57200" y="3749040"/>
            <a:ext cx="1514246" cy="548640"/>
          </a:xfrm>
          <a:prstGeom prst="roundRect">
            <a:avLst>
              <a:gd name="adj" fmla="val 13333"/>
            </a:avLst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57200" y="3749040"/>
            <a:ext cx="1514246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1971446" y="374904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2136038" y="3749040"/>
            <a:ext cx="1514246" cy="548640"/>
          </a:xfrm>
          <a:prstGeom prst="roundRect">
            <a:avLst>
              <a:gd name="adj" fmla="val 13333"/>
            </a:avLst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2136038" y="3749040"/>
            <a:ext cx="1514246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Categorization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3650285" y="374904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3814877" y="3749040"/>
            <a:ext cx="1514246" cy="548640"/>
          </a:xfrm>
          <a:prstGeom prst="roundRect">
            <a:avLst>
              <a:gd name="adj" fmla="val 13333"/>
            </a:avLst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3814877" y="3749040"/>
            <a:ext cx="1514246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5329123" y="374904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6" name="Shape 30"/>
          <p:cNvSpPr/>
          <p:nvPr/>
        </p:nvSpPr>
        <p:spPr>
          <a:xfrm>
            <a:off x="5493715" y="3749040"/>
            <a:ext cx="1514246" cy="548640"/>
          </a:xfrm>
          <a:prstGeom prst="roundRect">
            <a:avLst>
              <a:gd name="adj" fmla="val 13333"/>
            </a:avLst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5493715" y="3749040"/>
            <a:ext cx="1514246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100" dirty="0"/>
          </a:p>
        </p:txBody>
      </p:sp>
      <p:sp>
        <p:nvSpPr>
          <p:cNvPr id="38" name="Text 32"/>
          <p:cNvSpPr txBox="1"/>
          <p:nvPr/>
        </p:nvSpPr>
        <p:spPr>
          <a:xfrm>
            <a:off x="7007962" y="374904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9" name="Shape 33"/>
          <p:cNvSpPr/>
          <p:nvPr/>
        </p:nvSpPr>
        <p:spPr>
          <a:xfrm>
            <a:off x="7172554" y="3749040"/>
            <a:ext cx="1514246" cy="548640"/>
          </a:xfrm>
          <a:prstGeom prst="roundRect">
            <a:avLst>
              <a:gd name="adj" fmla="val 13333"/>
            </a:avLst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7172554" y="3749040"/>
            <a:ext cx="1514246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ACADEMIC HUB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CampusPulse Doesn’t Stop at Safety.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0" y="201168"/>
            <a:ext cx="3017520" cy="274320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0" y="201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WEB MVP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CampusPulse AI  |  Phoenix Powered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Planner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8288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PROVIDE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011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0175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2004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schedule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plan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countdown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checklist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137160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8328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Planner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18288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PROVIDE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2011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schedule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timeline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30175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32004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timeline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progression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alignment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milestones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137160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7220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+ AI assistant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2200" y="182880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C5E"/>
          </a:solidFill>
          <a:ln w="12700">
            <a:solidFill>
              <a:srgbClr val="1B2C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10528" y="182880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C5E"/>
          </a:solidFill>
          <a:ln w="12700">
            <a:solidFill>
              <a:srgbClr val="1B2C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48856" y="182880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C5E"/>
          </a:solidFill>
          <a:ln w="12700">
            <a:solidFill>
              <a:srgbClr val="1B2C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87184" y="182880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 w="12700">
            <a:solidFill>
              <a:srgbClr val="1B2C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25512" y="182880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C5E"/>
          </a:solidFill>
          <a:ln w="12700">
            <a:solidFill>
              <a:srgbClr val="1B2C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63840" y="182880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C5E"/>
          </a:solidFill>
          <a:ln w="12700">
            <a:solidFill>
              <a:srgbClr val="1B2C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02168" y="182880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C5E"/>
          </a:solidFill>
          <a:ln w="12700">
            <a:solidFill>
              <a:srgbClr val="1B2C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2139696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C5E"/>
          </a:solidFill>
          <a:ln w="12700">
            <a:solidFill>
              <a:srgbClr val="1B2C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10528" y="2139696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C5E"/>
          </a:solidFill>
          <a:ln w="12700">
            <a:solidFill>
              <a:srgbClr val="1B2C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48856" y="2139696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 w="12700">
            <a:solidFill>
              <a:srgbClr val="1B2C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87184" y="2139696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C5E"/>
          </a:solidFill>
          <a:ln w="12700">
            <a:solidFill>
              <a:srgbClr val="1B2C5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25512" y="2139696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C5E"/>
          </a:solidFill>
          <a:ln w="12700">
            <a:solidFill>
              <a:srgbClr val="1B2C5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63840" y="2139696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22D3EE"/>
          </a:solidFill>
          <a:ln w="12700">
            <a:solidFill>
              <a:srgbClr val="1B2C5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02168" y="2139696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C5E"/>
          </a:solidFill>
          <a:ln w="12700">
            <a:solidFill>
              <a:srgbClr val="1B2C5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72200" y="2450592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C5E"/>
          </a:solidFill>
          <a:ln w="12700">
            <a:solidFill>
              <a:srgbClr val="1B2C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10528" y="2450592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C5E"/>
          </a:solidFill>
          <a:ln w="12700">
            <a:solidFill>
              <a:srgbClr val="1B2C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8856" y="2450592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 w="12700">
            <a:solidFill>
              <a:srgbClr val="1B2C5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87184" y="2450592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C5E"/>
          </a:solidFill>
          <a:ln w="12700">
            <a:solidFill>
              <a:srgbClr val="1B2C5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25512" y="2450592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22D3EE"/>
          </a:solidFill>
          <a:ln w="12700">
            <a:solidFill>
              <a:srgbClr val="1B2C5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63840" y="2450592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C5E"/>
          </a:solidFill>
          <a:ln w="12700">
            <a:solidFill>
              <a:srgbClr val="1B2C5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02168" y="2450592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C5E"/>
          </a:solidFill>
          <a:ln w="12700">
            <a:solidFill>
              <a:srgbClr val="1B2C5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72200" y="288036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14224A"/>
          </a:solidFill>
          <a:ln w="9525">
            <a:solidFill>
              <a:srgbClr val="A9B8D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172200" y="2880360"/>
            <a:ext cx="23774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have a Cyber Security exam next week and two assignments due Friday.”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72200" y="36576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172200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your structured study plan…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EFFICIENCY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Campus Life More Efficient, Not Just Safer.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0" y="201168"/>
            <a:ext cx="3017520" cy="274320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0" y="201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WEB MVP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CampusPulse AI  |  Phoenix Powered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Mess Network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menu: Rice · Dal · Seasonal Veg · Roti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14884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F97316">
              <a:alpha val="20000"/>
            </a:srgbClr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food ★★★★☆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14600" y="214884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1460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265176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34D399">
              <a:alpha val="20000"/>
            </a:srgbClr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651760"/>
            <a:ext cx="10972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783080" y="265176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783080" y="2651760"/>
            <a:ext cx="10972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3200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estimate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920240" y="3246120"/>
            <a:ext cx="2377440" cy="137160"/>
          </a:xfrm>
          <a:prstGeom prst="roundRect">
            <a:avLst>
              <a:gd name="adj" fmla="val 46667"/>
            </a:avLst>
          </a:prstGeom>
          <a:solidFill>
            <a:srgbClr val="1B2C5E"/>
          </a:solidFill>
          <a:ln w="12700">
            <a:solidFill>
              <a:srgbClr val="1B2C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20240" y="3246120"/>
            <a:ext cx="1188720" cy="137160"/>
          </a:xfrm>
          <a:prstGeom prst="roundRect">
            <a:avLst>
              <a:gd name="adj" fmla="val 4666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74904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3B82F6">
              <a:alpha val="20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food-waste prediction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42976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UI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63440" y="137160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0060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&amp; Found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00600" y="1828800"/>
            <a:ext cx="3749040" cy="384048"/>
          </a:xfrm>
          <a:prstGeom prst="roundRect">
            <a:avLst>
              <a:gd name="adj" fmla="val 19048"/>
            </a:avLst>
          </a:prstGeom>
          <a:solidFill>
            <a:srgbClr val="EF4444">
              <a:alpha val="20000"/>
            </a:srgbClr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00600" y="1828800"/>
            <a:ext cx="37490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LOST: ID card · near library · 2:10 PM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2331720"/>
            <a:ext cx="3749040" cy="384048"/>
          </a:xfrm>
          <a:prstGeom prst="roundRect">
            <a:avLst>
              <a:gd name="adj" fmla="val 19048"/>
            </a:avLst>
          </a:prstGeom>
          <a:solidFill>
            <a:srgbClr val="34D399">
              <a:alpha val="20000"/>
            </a:srgbClr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00600" y="2331720"/>
            <a:ext cx="37490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FOUND: ID card · library desk · 2:40 PM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2880360"/>
            <a:ext cx="3749040" cy="411480"/>
          </a:xfrm>
          <a:prstGeom prst="roundRect">
            <a:avLst>
              <a:gd name="adj" fmla="val 17778"/>
            </a:avLst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00600" y="2880360"/>
            <a:ext cx="3749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category + location + time match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34747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lost or found items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by category, place and time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42976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UI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MVP vs Future App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CampusPulse AI  |  Phoenix Powered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MVP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2880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safety radar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grievance reporting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 complaints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tracking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planner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planner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 feedback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&amp; Found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issue dashboard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120640" y="137160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0352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NATIVE APP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182880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Hardware-triggered SOS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location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safety widgets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integration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Permission-based audio/video capture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distress detection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security communication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69080" y="2560320"/>
            <a:ext cx="1005840" cy="548640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0" y="4434840"/>
            <a:ext cx="4572000" cy="320040"/>
          </a:xfrm>
          <a:prstGeom prst="roundRect">
            <a:avLst>
              <a:gd name="adj" fmla="val 22857"/>
            </a:avLst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86000" y="4434840"/>
            <a:ext cx="4572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FOUNDATION → NATIVE SAFETY ECOSYSTEM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Practical, Scalable Tools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0" y="201168"/>
            <a:ext cx="3017520" cy="274320"/>
          </a:xfrm>
          <a:prstGeom prst="roundRect">
            <a:avLst>
              <a:gd name="adj" fmla="val 50000"/>
            </a:avLst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0" y="201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STACK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CampusPulse AI  |  Phoenix Powered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2011680" cy="530352"/>
          </a:xfrm>
          <a:prstGeom prst="roundRect">
            <a:avLst>
              <a:gd name="adj" fmla="val 13793"/>
            </a:avLst>
          </a:prstGeom>
          <a:solidFill>
            <a:srgbClr val="34D399">
              <a:alpha val="20000"/>
            </a:srgbClr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371600"/>
            <a:ext cx="20116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(web MVP)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371600"/>
            <a:ext cx="1938528" cy="530352"/>
          </a:xfrm>
          <a:prstGeom prst="roundRect">
            <a:avLst>
              <a:gd name="adj" fmla="val 13793"/>
            </a:avLst>
          </a:prstGeom>
          <a:solidFill>
            <a:srgbClr val="14224A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06040" y="1371600"/>
            <a:ext cx="193852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45152" y="1371600"/>
            <a:ext cx="1938528" cy="530352"/>
          </a:xfrm>
          <a:prstGeom prst="roundRect">
            <a:avLst>
              <a:gd name="adj" fmla="val 13793"/>
            </a:avLst>
          </a:prstGeom>
          <a:solidFill>
            <a:srgbClr val="14224A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45152" y="1371600"/>
            <a:ext cx="193852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84264" y="1371600"/>
            <a:ext cx="1938528" cy="530352"/>
          </a:xfrm>
          <a:prstGeom prst="roundRect">
            <a:avLst>
              <a:gd name="adj" fmla="val 13793"/>
            </a:avLst>
          </a:prstGeom>
          <a:solidFill>
            <a:srgbClr val="14224A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84264" y="1371600"/>
            <a:ext cx="193852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app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993392"/>
            <a:ext cx="2011680" cy="530352"/>
          </a:xfrm>
          <a:prstGeom prst="roundRect">
            <a:avLst>
              <a:gd name="adj" fmla="val 13793"/>
            </a:avLst>
          </a:prstGeom>
          <a:solidFill>
            <a:srgbClr val="34D399">
              <a:alpha val="20000"/>
            </a:srgbClr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1993392"/>
            <a:ext cx="20116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&amp; location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06040" y="1993392"/>
            <a:ext cx="1938528" cy="530352"/>
          </a:xfrm>
          <a:prstGeom prst="roundRect">
            <a:avLst>
              <a:gd name="adj" fmla="val 13793"/>
            </a:avLst>
          </a:prstGeom>
          <a:solidFill>
            <a:srgbClr val="14224A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06040" y="1993392"/>
            <a:ext cx="193852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45152" y="1993392"/>
            <a:ext cx="1938528" cy="530352"/>
          </a:xfrm>
          <a:prstGeom prst="roundRect">
            <a:avLst>
              <a:gd name="adj" fmla="val 13793"/>
            </a:avLst>
          </a:prstGeom>
          <a:solidFill>
            <a:srgbClr val="14224A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45152" y="1993392"/>
            <a:ext cx="193852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84264" y="1993392"/>
            <a:ext cx="1938528" cy="530352"/>
          </a:xfrm>
          <a:prstGeom prst="roundRect">
            <a:avLst>
              <a:gd name="adj" fmla="val 13793"/>
            </a:avLst>
          </a:prstGeom>
          <a:solidFill>
            <a:srgbClr val="14224A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84264" y="1993392"/>
            <a:ext cx="193852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pins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615184"/>
            <a:ext cx="2011680" cy="530352"/>
          </a:xfrm>
          <a:prstGeom prst="roundRect">
            <a:avLst>
              <a:gd name="adj" fmla="val 13793"/>
            </a:avLst>
          </a:prstGeom>
          <a:solidFill>
            <a:srgbClr val="34D399">
              <a:alpha val="20000"/>
            </a:srgbClr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2615184"/>
            <a:ext cx="20116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NLP layer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606040" y="2615184"/>
            <a:ext cx="1938528" cy="530352"/>
          </a:xfrm>
          <a:prstGeom prst="roundRect">
            <a:avLst>
              <a:gd name="adj" fmla="val 13793"/>
            </a:avLst>
          </a:prstGeom>
          <a:solidFill>
            <a:srgbClr val="14224A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606040" y="2615184"/>
            <a:ext cx="193852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for complaint understanding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45152" y="2615184"/>
            <a:ext cx="1938528" cy="530352"/>
          </a:xfrm>
          <a:prstGeom prst="roundRect">
            <a:avLst>
              <a:gd name="adj" fmla="val 13793"/>
            </a:avLst>
          </a:prstGeom>
          <a:solidFill>
            <a:srgbClr val="14224A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45152" y="2615184"/>
            <a:ext cx="193852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location, priority extraction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84264" y="2615184"/>
            <a:ext cx="1938528" cy="530352"/>
          </a:xfrm>
          <a:prstGeom prst="roundRect">
            <a:avLst>
              <a:gd name="adj" fmla="val 13793"/>
            </a:avLst>
          </a:prstGeom>
          <a:solidFill>
            <a:srgbClr val="14224A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84264" y="2615184"/>
            <a:ext cx="193852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+ text matching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236976"/>
            <a:ext cx="2011680" cy="530352"/>
          </a:xfrm>
          <a:prstGeom prst="roundRect">
            <a:avLst>
              <a:gd name="adj" fmla="val 13793"/>
            </a:avLst>
          </a:prstGeom>
          <a:solidFill>
            <a:srgbClr val="34D399">
              <a:alpha val="20000"/>
            </a:srgbClr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" y="3236976"/>
            <a:ext cx="20116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606040" y="3236976"/>
            <a:ext cx="1938528" cy="530352"/>
          </a:xfrm>
          <a:prstGeom prst="roundRect">
            <a:avLst>
              <a:gd name="adj" fmla="val 13793"/>
            </a:avLst>
          </a:prstGeom>
          <a:solidFill>
            <a:srgbClr val="14224A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606040" y="3236976"/>
            <a:ext cx="193852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or Supabase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45152" y="3236976"/>
            <a:ext cx="1938528" cy="530352"/>
          </a:xfrm>
          <a:prstGeom prst="roundRect">
            <a:avLst>
              <a:gd name="adj" fmla="val 13793"/>
            </a:avLst>
          </a:prstGeom>
          <a:solidFill>
            <a:srgbClr val="14224A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645152" y="3236976"/>
            <a:ext cx="193852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role-based access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84264" y="3236976"/>
            <a:ext cx="1938528" cy="530352"/>
          </a:xfrm>
          <a:prstGeom prst="roundRect">
            <a:avLst>
              <a:gd name="adj" fmla="val 13793"/>
            </a:avLst>
          </a:prstGeom>
          <a:solidFill>
            <a:srgbClr val="14224A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684264" y="3236976"/>
            <a:ext cx="193852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DB + file storage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3858768"/>
            <a:ext cx="2011680" cy="530352"/>
          </a:xfrm>
          <a:prstGeom prst="roundRect">
            <a:avLst>
              <a:gd name="adj" fmla="val 13793"/>
            </a:avLst>
          </a:prstGeom>
          <a:solidFill>
            <a:srgbClr val="3B82F6">
              <a:alpha val="20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57200" y="3858768"/>
            <a:ext cx="20116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app (future)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606040" y="3858768"/>
            <a:ext cx="1938528" cy="530352"/>
          </a:xfrm>
          <a:prstGeom prst="roundRect">
            <a:avLst>
              <a:gd name="adj" fmla="val 13793"/>
            </a:avLst>
          </a:prstGeom>
          <a:solidFill>
            <a:srgbClr val="14224A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606040" y="3858768"/>
            <a:ext cx="193852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45152" y="3858768"/>
            <a:ext cx="1938528" cy="530352"/>
          </a:xfrm>
          <a:prstGeom prst="roundRect">
            <a:avLst>
              <a:gd name="adj" fmla="val 13793"/>
            </a:avLst>
          </a:prstGeom>
          <a:solidFill>
            <a:srgbClr val="14224A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645152" y="3858768"/>
            <a:ext cx="193852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sensors, SOS trigger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684264" y="3858768"/>
            <a:ext cx="1938528" cy="530352"/>
          </a:xfrm>
          <a:prstGeom prst="roundRect">
            <a:avLst>
              <a:gd name="adj" fmla="val 13793"/>
            </a:avLst>
          </a:prstGeom>
          <a:solidFill>
            <a:srgbClr val="14224A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684264" y="3858768"/>
            <a:ext cx="193852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+ background location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stack, to be finalised by the team. Green = current MVP, blue = future scope.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4114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Smarter Campus Doesn’t Just Respond to Problems. It Learns From Them.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CampusPulse AI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 Understand. Respond. Improve.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Students. For Faculty. For Security. For Everyone.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88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 is not to build another complaint portal.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 is to build the intelligent layer connecting campus life with campus action.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3657600"/>
            <a:ext cx="5486400" cy="685800"/>
          </a:xfrm>
          <a:prstGeom prst="roundRect">
            <a:avLst>
              <a:gd name="adj" fmla="val 16000"/>
            </a:avLst>
          </a:prstGeom>
          <a:solidFill>
            <a:srgbClr val="14224A"/>
          </a:solidFill>
          <a:ln w="9525">
            <a:solidFill>
              <a:srgbClr val="2A3F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28800" y="3721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Powered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4023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Kashyap  |  Radhika  |  Manyata Ahuja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CampusPulse AI - SIH 2026</dc:title>
  <dc:subject>PptxGenJS Presentation</dc:subject>
  <dc:creator>PptxGenJS</dc:creator>
  <cp:lastModifiedBy>PptxGenJS</cp:lastModifiedBy>
  <cp:revision>1</cp:revision>
  <dcterms:created xsi:type="dcterms:W3CDTF">2026-10-07T06:37:36Z</dcterms:created>
  <dcterms:modified xsi:type="dcterms:W3CDTF">2026-10-07T06:37:36Z</dcterms:modified>
</cp:coreProperties>
</file>